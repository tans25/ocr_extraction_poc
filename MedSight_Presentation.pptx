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Introduce yourself, the topic, and the assessment. Mention MedSight is the proof of concept you built.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80% of healthcare data is unstructured. Introduce the technology scope: OCR, NLP, CV, LLMs, Multimodal.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past (rule-based), present (transformers), future (foundation models). Emphasize the trend toward unification.</a:t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dual-pipeline architecture. OCR path on the left is past/present, multimodal on the right is the future. Both feed into FDA grounding.</a:t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each layer of the tech stack. Mention why each technology was chosen.</a:t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key argument. Stress: LLM reasons, authoritative data provides the facts. The pattern is reusable across Cotiviti's product lines.</a:t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 to screenshare. Show the landing page, upload a prescription, toggle between OCR and LLM pipelines, show medication cards and interaction warnings.</a:t>
            </a:r>
            <a:endParaRPr/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Summarize: pilot RAG pipelines, replicate the MedSight pattern, leverage Cotiviti's existing data as the grounding layer.</a:t>
            </a:r>
            <a:endParaRPr/>
          </a:p>
        </p:txBody>
      </p:sp>
      <p:sp>
        <p:nvSpPr>
          <p:cNvPr id="157" name="Google Shape;1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17505" y="723980"/>
            <a:ext cx="6400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MedSight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17505" y="1783318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A7D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22A7D1"/>
                </a:solidFill>
                <a:latin typeface="Calibri"/>
                <a:ea typeface="Calibri"/>
                <a:cs typeface="Calibri"/>
                <a:sym typeface="Calibri"/>
              </a:rPr>
              <a:t>AI-Powered Prescription Intelligence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517505" y="2338775"/>
            <a:ext cx="3713400" cy="15300"/>
          </a:xfrm>
          <a:prstGeom prst="straightConnector1">
            <a:avLst/>
          </a:prstGeom>
          <a:noFill/>
          <a:ln cap="flat" cmpd="sng" w="25400">
            <a:solidFill>
              <a:srgbClr val="22A7D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/>
          <p:nvPr/>
        </p:nvSpPr>
        <p:spPr>
          <a:xfrm>
            <a:off x="517505" y="2499533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Clinical Natural Language Technology for Health Care: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Past, Present, &amp; Future Approaches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17505" y="3482225"/>
            <a:ext cx="548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Tanaya Joshi |  University of Maryland, College Park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Cotiviti Intern Assessment  | 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120950" y="3518950"/>
            <a:ext cx="1133100" cy="1097400"/>
          </a:xfrm>
          <a:prstGeom prst="roundRect">
            <a:avLst>
              <a:gd fmla="val 75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What is Clinical NLP?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1188720"/>
            <a:ext cx="2560320" cy="1463040"/>
          </a:xfrm>
          <a:prstGeom prst="roundRect">
            <a:avLst>
              <a:gd fmla="val 9375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40080" y="1234440"/>
            <a:ext cx="2560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3CE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6C3CE0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20116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of healthcare data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 unstructured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577300" y="1106950"/>
            <a:ext cx="54030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Clinical NLP extracts structured information from unstructured healthcare data</a:t>
            </a:r>
            <a:r>
              <a:rPr lang="en-US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notes, claims, prescriptions, faxed documents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Scope extends beyond text: OCR, Computer Vision, LLMs, and Multimodal Models form an evolving technology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The field is shifting from multi-stage specialized pipelines to unified foundation models that read, extract, and reason in one step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16351" y="3518950"/>
            <a:ext cx="1133100" cy="1144500"/>
          </a:xfrm>
          <a:prstGeom prst="roundRect">
            <a:avLst>
              <a:gd fmla="val 75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300" y="36307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973250" y="4203125"/>
            <a:ext cx="8193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OCR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444200" y="3518938"/>
            <a:ext cx="1133100" cy="1097400"/>
          </a:xfrm>
          <a:prstGeom prst="roundRect">
            <a:avLst>
              <a:gd fmla="val 75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0308" y="36307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2555963" y="4223000"/>
            <a:ext cx="885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6690" y="36307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4301537" y="4182275"/>
            <a:ext cx="771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892400" y="3542500"/>
            <a:ext cx="1133100" cy="1097400"/>
          </a:xfrm>
          <a:prstGeom prst="roundRect">
            <a:avLst>
              <a:gd fmla="val 75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0360" y="36307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6073033" y="4202150"/>
            <a:ext cx="7719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LLMs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553688" y="3544750"/>
            <a:ext cx="1133100" cy="1045800"/>
          </a:xfrm>
          <a:prstGeom prst="roundRect">
            <a:avLst>
              <a:gd fmla="val 75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91655" y="36307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7553700" y="4160525"/>
            <a:ext cx="11331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457205" y="3657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Evolution of Clinical NLP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1188725"/>
            <a:ext cx="2428500" cy="3383400"/>
          </a:xfrm>
          <a:prstGeom prst="roundRect">
            <a:avLst>
              <a:gd fmla="val 517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109728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Past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Rule-Based 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00850" y="2240300"/>
            <a:ext cx="2286000" cy="19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Handcrafted rules, regex, UMLS dictionaries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MedLEE (1994), cTAKES (2010)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Tesseract OCR — fails on handwriting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Brittle: manual engineering per document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732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>
            <a:off x="3383275" y="1188725"/>
            <a:ext cx="2498100" cy="3436200"/>
          </a:xfrm>
          <a:prstGeom prst="roundRect">
            <a:avLst>
              <a:gd fmla="val 5172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6616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5"/>
          <p:cNvSpPr/>
          <p:nvPr/>
        </p:nvSpPr>
        <p:spPr>
          <a:xfrm>
            <a:off x="402336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Present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56616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Domain-Specific Transformers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499525" y="2240300"/>
            <a:ext cx="2230800" cy="22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BioBERT, PubMedBERT — pre-trained on biomedical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TrOCR — 90%+ handwriting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Mistral OCR — 88.9% on handwriting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One model per task, one pipeline per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200" y="2651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6309351" y="1188725"/>
            <a:ext cx="2498100" cy="3436200"/>
          </a:xfrm>
          <a:prstGeom prst="roundRect">
            <a:avLst>
              <a:gd fmla="val 5172" name="adj"/>
            </a:avLst>
          </a:prstGeom>
          <a:solidFill>
            <a:srgbClr val="E0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Foundation &amp; Multimodal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378940" y="2209700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GPT-4, Mistral Large — zero-shot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GPT-4o: 0.95 F1 on medical NER (no fine-tuning)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Pixtral, GPT-4V — image to structured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Entire OCR + NLP pipeline </a:t>
            </a:r>
            <a:r>
              <a:rPr lang="en-US" sz="12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requires </a:t>
            </a:r>
            <a:r>
              <a:rPr b="0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one model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370455" y="32011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MedSight — System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291840" y="914385"/>
            <a:ext cx="2560200" cy="548700"/>
          </a:xfrm>
          <a:prstGeom prst="roundRect">
            <a:avLst>
              <a:gd fmla="val 16667" name="adj"/>
            </a:avLst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292500" y="960302"/>
            <a:ext cx="25602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Prescription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79000" y="1970413"/>
            <a:ext cx="2651700" cy="1317000"/>
          </a:xfrm>
          <a:prstGeom prst="roundRect">
            <a:avLst>
              <a:gd fmla="val 7500" name="adj"/>
            </a:avLst>
          </a:prstGeom>
          <a:solidFill>
            <a:srgbClr val="F1F5F9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305" y="2013103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426678" y="1990275"/>
            <a:ext cx="195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OCR Pipeline (Past/Present)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061851" y="2420387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OpenCV preprocessing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Tesseract OCR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Mistral Large text cleanup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715000" y="1947575"/>
            <a:ext cx="2560200" cy="1113000"/>
          </a:xfrm>
          <a:prstGeom prst="roundRect">
            <a:avLst>
              <a:gd fmla="val 7500" name="adj"/>
            </a:avLst>
          </a:prstGeom>
          <a:solidFill>
            <a:srgbClr val="EDE9FE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060" y="2051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6293847" y="2028400"/>
            <a:ext cx="1877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Multimodal LLM (Future)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873852" y="2420037"/>
            <a:ext cx="2377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Pixtral Large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 to structured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 inference call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6"/>
          <p:cNvCxnSpPr>
            <a:stCxn id="75" idx="2"/>
          </p:cNvCxnSpPr>
          <p:nvPr/>
        </p:nvCxnSpPr>
        <p:spPr>
          <a:xfrm>
            <a:off x="4571940" y="1463085"/>
            <a:ext cx="1200" cy="2790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6"/>
          <p:cNvCxnSpPr/>
          <p:nvPr/>
        </p:nvCxnSpPr>
        <p:spPr>
          <a:xfrm>
            <a:off x="2208800" y="1721425"/>
            <a:ext cx="2374800" cy="105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6"/>
          <p:cNvCxnSpPr/>
          <p:nvPr/>
        </p:nvCxnSpPr>
        <p:spPr>
          <a:xfrm>
            <a:off x="2204860" y="172143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6"/>
          <p:cNvCxnSpPr/>
          <p:nvPr/>
        </p:nvCxnSpPr>
        <p:spPr>
          <a:xfrm>
            <a:off x="4572000" y="173123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6"/>
          <p:cNvCxnSpPr/>
          <p:nvPr/>
        </p:nvCxnSpPr>
        <p:spPr>
          <a:xfrm>
            <a:off x="6949490" y="1721430"/>
            <a:ext cx="0" cy="2286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6"/>
          <p:cNvCxnSpPr/>
          <p:nvPr/>
        </p:nvCxnSpPr>
        <p:spPr>
          <a:xfrm flipH="1">
            <a:off x="6948001" y="3086049"/>
            <a:ext cx="1500" cy="2322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6"/>
          <p:cNvSpPr/>
          <p:nvPr/>
        </p:nvSpPr>
        <p:spPr>
          <a:xfrm>
            <a:off x="5647801" y="3257062"/>
            <a:ext cx="2694600" cy="450900"/>
          </a:xfrm>
          <a:prstGeom prst="roundRect">
            <a:avLst>
              <a:gd fmla="val 18182" name="adj"/>
            </a:avLst>
          </a:prstGeom>
          <a:solidFill>
            <a:srgbClr val="E0F7FA"/>
          </a:solidFill>
          <a:ln>
            <a:noFill/>
          </a:ln>
          <a:effectLst>
            <a:outerShdw blurRad="1016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4910" y="33453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6293850" y="3270100"/>
            <a:ext cx="2079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openFDA API — Drug Labels &amp; Interactions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6"/>
          <p:cNvCxnSpPr/>
          <p:nvPr/>
        </p:nvCxnSpPr>
        <p:spPr>
          <a:xfrm>
            <a:off x="6947875" y="3702075"/>
            <a:ext cx="1500" cy="1893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6"/>
          <p:cNvSpPr/>
          <p:nvPr/>
        </p:nvSpPr>
        <p:spPr>
          <a:xfrm>
            <a:off x="5623650" y="3904425"/>
            <a:ext cx="2749500" cy="927900"/>
          </a:xfrm>
          <a:prstGeom prst="roundRect">
            <a:avLst>
              <a:gd fmla="val 18182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766750" y="4010200"/>
            <a:ext cx="245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1" sz="11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1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Medications to take  |  Drug Interactions by severity |  Medication Schedule</a:t>
            </a:r>
            <a:endParaRPr b="0" i="0" sz="11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30100" y="3794775"/>
            <a:ext cx="2749500" cy="927900"/>
          </a:xfrm>
          <a:prstGeom prst="roundRect">
            <a:avLst>
              <a:gd fmla="val 18182" name="adj"/>
            </a:avLst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6"/>
          <p:cNvCxnSpPr>
            <a:stCxn id="77" idx="2"/>
            <a:endCxn id="97" idx="0"/>
          </p:cNvCxnSpPr>
          <p:nvPr/>
        </p:nvCxnSpPr>
        <p:spPr>
          <a:xfrm>
            <a:off x="2204850" y="3287413"/>
            <a:ext cx="0" cy="50730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976500" y="3938625"/>
            <a:ext cx="2456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b="1" sz="11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t/>
            </a:r>
            <a:endParaRPr b="1" sz="11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Patient Information</a:t>
            </a:r>
            <a:r>
              <a:rPr b="1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11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| </a:t>
            </a:r>
            <a:r>
              <a:rPr b="1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Medications to take  </a:t>
            </a:r>
            <a:endParaRPr b="0" i="0" sz="11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0080" y="1188720"/>
            <a:ext cx="7863840" cy="777240"/>
          </a:xfrm>
          <a:prstGeom prst="roundRect">
            <a:avLst>
              <a:gd fmla="val 14118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53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1554480" y="1234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554480" y="157276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Streamlit — interactive web UI with custom CSS theming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40080" y="2148840"/>
            <a:ext cx="7863840" cy="777240"/>
          </a:xfrm>
          <a:prstGeom prst="roundRect">
            <a:avLst>
              <a:gd fmla="val 1411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231343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1554480" y="21945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OCR Pipeline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554480" y="253288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OpenCV (preprocessing) + Tesseract OCR (text extraction)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3108960"/>
            <a:ext cx="7863840" cy="777240"/>
          </a:xfrm>
          <a:prstGeom prst="roundRect">
            <a:avLst>
              <a:gd fmla="val 14118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2735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/>
          <p:nvPr/>
        </p:nvSpPr>
        <p:spPr>
          <a:xfrm>
            <a:off x="1554480" y="31546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AI Models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554480" y="349300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Pixtral Large (multimodal) + Mistral Large (text reasoning)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4069080"/>
            <a:ext cx="7863840" cy="777240"/>
          </a:xfrm>
          <a:prstGeom prst="roundRect">
            <a:avLst>
              <a:gd fmla="val 14118" name="adj"/>
            </a:avLst>
          </a:prstGeom>
          <a:solidFill>
            <a:srgbClr val="E0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42336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155448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Data Grounding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554480" y="445312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openFDA Drug Label API — interactions, dosage, warnings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0" y="5166360"/>
            <a:ext cx="2743200" cy="411480"/>
          </a:xfrm>
          <a:prstGeom prst="roundRect">
            <a:avLst>
              <a:gd fmla="val 1777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200400" y="51663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Language: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9" name="Google Shape;12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8" y="4572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1234440" y="36566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Why Grounding Matters in Healthcare AI</a:t>
            </a:r>
            <a:endParaRPr b="0" i="0" sz="28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45000" y="1097150"/>
            <a:ext cx="3931800" cy="1735800"/>
          </a:xfrm>
          <a:prstGeom prst="roundRect">
            <a:avLst>
              <a:gd fmla="val 6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74" y="1211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937285" y="1143035"/>
            <a:ext cx="3017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3A52"/>
                </a:solidFill>
                <a:latin typeface="Calibri"/>
                <a:ea typeface="Calibri"/>
                <a:cs typeface="Calibri"/>
                <a:sym typeface="Calibri"/>
              </a:rPr>
              <a:t>The Risk of Raw LLMs</a:t>
            </a:r>
            <a:endParaRPr b="0" i="0" sz="1500" u="none" cap="none" strike="noStrike">
              <a:solidFill>
                <a:srgbClr val="0E3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39200" y="1554550"/>
            <a:ext cx="3753900" cy="12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LLMs can hallucinate</a:t>
            </a:r>
            <a:r>
              <a:rPr b="0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0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generate plausible but incorrect medical facts</a:t>
            </a:r>
            <a:endParaRPr b="0" i="0" sz="11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In healthcare, wrong drug interactions or missed warnings can directly harm patients</a:t>
            </a:r>
            <a:endParaRPr b="0" i="0" sz="11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"Sounds right" is not acceptable when patient safety is at stake</a:t>
            </a:r>
            <a:endParaRPr b="0" i="0" sz="11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09225" y="1097150"/>
            <a:ext cx="3931800" cy="1735800"/>
          </a:xfrm>
          <a:prstGeom prst="roundRect">
            <a:avLst>
              <a:gd fmla="val 6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75" y="12115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5349240" y="1143035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The MedSight Approach (RAG)</a:t>
            </a:r>
            <a:endParaRPr b="0" i="0" sz="1500" u="none" cap="none" strike="noStrike">
              <a:solidFill>
                <a:srgbClr val="16A3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937655" y="1554560"/>
            <a:ext cx="3383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3A5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E3A52"/>
                </a:solidFill>
                <a:latin typeface="Calibri"/>
                <a:ea typeface="Calibri"/>
                <a:cs typeface="Calibri"/>
                <a:sym typeface="Calibri"/>
              </a:rPr>
              <a:t>LLM extracts medications from the prescription</a:t>
            </a:r>
            <a:endParaRPr b="0" i="0" sz="1100" u="none" cap="none" strike="noStrike">
              <a:solidFill>
                <a:srgbClr val="0E3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3A5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E3A52"/>
                </a:solidFill>
                <a:latin typeface="Calibri"/>
                <a:ea typeface="Calibri"/>
                <a:cs typeface="Calibri"/>
                <a:sym typeface="Calibri"/>
              </a:rPr>
              <a:t>openFDA API retrieves official drug label data</a:t>
            </a:r>
            <a:endParaRPr b="0" i="0" sz="1100" u="none" cap="none" strike="noStrike">
              <a:solidFill>
                <a:srgbClr val="0E3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3A5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E3A52"/>
                </a:solidFill>
                <a:latin typeface="Calibri"/>
                <a:ea typeface="Calibri"/>
                <a:cs typeface="Calibri"/>
                <a:sym typeface="Calibri"/>
              </a:rPr>
              <a:t>LLM generates output using ONLY FDA data as context</a:t>
            </a:r>
            <a:endParaRPr b="0" i="0" sz="1100" u="none" cap="none" strike="noStrike">
              <a:solidFill>
                <a:srgbClr val="0E3A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E3A52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E3A52"/>
                </a:solidFill>
                <a:latin typeface="Calibri"/>
                <a:ea typeface="Calibri"/>
                <a:cs typeface="Calibri"/>
                <a:sym typeface="Calibri"/>
              </a:rPr>
              <a:t>Every warning traces back to an authoritative source</a:t>
            </a:r>
            <a:endParaRPr b="0" i="0" sz="1100" u="none" cap="none" strike="noStrike">
              <a:solidFill>
                <a:srgbClr val="0E3A5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2947215"/>
            <a:ext cx="8229600" cy="640200"/>
          </a:xfrm>
          <a:prstGeom prst="roundRect">
            <a:avLst>
              <a:gd fmla="val 14286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4370" y="3107305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1064300" y="2947225"/>
            <a:ext cx="7485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558"/>
                </a:solidFill>
                <a:latin typeface="Calibri"/>
                <a:ea typeface="Calibri"/>
                <a:cs typeface="Calibri"/>
                <a:sym typeface="Calibri"/>
              </a:rPr>
              <a:t>The LLM is the reasoning engine, not the knowledge source. Authoritative databases are the knowledge source.</a:t>
            </a:r>
            <a:endParaRPr b="0" i="0" sz="1300" u="none" cap="none" strike="noStrike">
              <a:solidFill>
                <a:srgbClr val="2D25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80080" y="366783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400"/>
              <a:buFont typeface="Calibri"/>
              <a:buNone/>
            </a:pPr>
            <a:r>
              <a:rPr b="1" i="0" lang="en-US" sz="1700" u="none" cap="none" strike="noStrik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Applicable Beyond MedSight</a:t>
            </a:r>
            <a:endParaRPr b="0" i="0" sz="1700" u="none" cap="none" strike="noStrike">
              <a:solidFill>
                <a:srgbClr val="818C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80075" y="4113979"/>
            <a:ext cx="77724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D255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D2558"/>
                </a:solidFill>
                <a:latin typeface="Calibri"/>
                <a:ea typeface="Calibri"/>
                <a:cs typeface="Calibri"/>
                <a:sym typeface="Calibri"/>
              </a:rPr>
              <a:t>Payment Policy Management → ground in CMS billing policies</a:t>
            </a:r>
            <a:endParaRPr b="0" i="0" u="none" cap="none" strike="noStrike">
              <a:solidFill>
                <a:srgbClr val="2D25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255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D2558"/>
                </a:solidFill>
                <a:latin typeface="Calibri"/>
                <a:ea typeface="Calibri"/>
                <a:cs typeface="Calibri"/>
                <a:sym typeface="Calibri"/>
              </a:rPr>
              <a:t>Coding Validation → ground in ICD-10/CPT references</a:t>
            </a:r>
            <a:endParaRPr b="0" i="0" u="none" cap="none" strike="noStrike">
              <a:solidFill>
                <a:srgbClr val="2D255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2D2558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rgbClr val="2D2558"/>
                </a:solidFill>
                <a:latin typeface="Calibri"/>
                <a:ea typeface="Calibri"/>
                <a:cs typeface="Calibri"/>
                <a:sym typeface="Calibri"/>
              </a:rPr>
              <a:t>Risk Adjustment → ground in validated clinical guidelines</a:t>
            </a:r>
            <a:endParaRPr b="0" i="0" u="none" cap="none" strike="noStrike">
              <a:solidFill>
                <a:srgbClr val="2D25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371600" y="1371600"/>
            <a:ext cx="6400800" cy="2926080"/>
          </a:xfrm>
          <a:prstGeom prst="roundRect">
            <a:avLst>
              <a:gd fmla="val 4688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1371600" y="1371600"/>
            <a:ext cx="64008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[ MedSight Application Demo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Screenshare of the working application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828800" y="438912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Upload prescription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 OCR Pipeline vs Multimodal LLM extraction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View medication cards, interaction warnings, and daily schedule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1371600"/>
            <a:ext cx="6400799" cy="292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/>
          <p:nvPr/>
        </p:nvSpPr>
        <p:spPr>
          <a:xfrm>
            <a:off x="685805" y="24131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Recommendation for Cotiviti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640075" y="1005850"/>
            <a:ext cx="79359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Pilot retrieval-augmented generation across existing product lines, grounding LLM outputs in authoritative 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MedSight pattern — multimodal extraction + FDA data grounding — maps directly to Cotiviti workflows: Payment Policy, Coding Validation, Risk Adjustment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Cotiviti's connected data platform (3.5B+ claims/year) is already the grounding layer </a:t>
            </a:r>
            <a:endParaRPr sz="15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Lead the industry on auditable healthcare AI: every AI output traceable to a verified source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2286000" y="4191145"/>
            <a:ext cx="4572000" cy="822900"/>
          </a:xfrm>
          <a:prstGeom prst="roundRect">
            <a:avLst>
              <a:gd fmla="val 13333" name="adj"/>
            </a:avLst>
          </a:prstGeom>
          <a:solidFill>
            <a:srgbClr val="2D25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2286000" y="4191170"/>
            <a:ext cx="457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3.5B+ claims annually — the grounding data already exists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B4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Tanaya Joshi  |  University of Maryland, College Park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11"/>
          <p:cNvCxnSpPr/>
          <p:nvPr/>
        </p:nvCxnSpPr>
        <p:spPr>
          <a:xfrm>
            <a:off x="3200400" y="320040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22A7D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